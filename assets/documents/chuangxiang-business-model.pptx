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449927" y="1874519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4A2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6DCFF"/>
                </a:solidFill>
                <a:latin typeface="微软雅黑"/>
                <a:ea typeface="微软雅黑"/>
                <a:cs typeface="微软雅黑"/>
              </a:rPr>
              <a:t>具身智能 · AI Agent · 场景应用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创享艺苑商业模式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D9CFF2"/>
                </a:solidFill>
                <a:latin typeface="微软雅黑"/>
                <a:ea typeface="微软雅黑"/>
                <a:cs typeface="微软雅黑"/>
              </a:rPr>
              <a:t>让前沿智能服务于科技、文创、志愿公益与教育场景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33288" y="4343400"/>
            <a:ext cx="73152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8A65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CFC2EE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pic>
        <p:nvPicPr>
          <p:cNvPr id="8" name="Picture 7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504" y="777240"/>
            <a:ext cx="2050992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创享艺苑是谁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从大学生创业者联盟出发，成长为具身智能与 AI Agent 场景应用服务品牌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908792" cy="123444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332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E0E2FF"/>
                </a:solidFill>
                <a:latin typeface="微软雅黑"/>
                <a:ea typeface="微软雅黑"/>
                <a:cs typeface="微软雅黑"/>
              </a:rPr>
              <a:t>一句话定位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让前沿智能技术真正落到人和场景里：讲得清、用得上、可持续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35204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65760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3657600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翻译者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把具身智能、VLA、Agent 等前沿技术，讲给教师、学生、公众、机构和评审听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3429000"/>
            <a:ext cx="35204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62856" y="365760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3657600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连接者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20624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把科研团队与硬件厂商的能力，接到学校、场馆、社区、企业的真实需求上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3429000"/>
            <a:ext cx="35204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57031" y="365760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3657600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应用设计者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20624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在具体场景里设计智能体的任务、内容与交互，让技术有事可做、做得有意义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形态：一人公司先行 · 前沿 AI 社区是信息窗口与认知高地 · 资产跑通后再吸纳同频伙伴</a:t>
            </a:r>
          </a:p>
        </p:txBody>
      </p:sp>
      <p:pic>
        <p:nvPicPr>
          <p:cNvPr id="24" name="Picture 23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本科期间已经拉到的资源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不是从零起步：技术、场景、信任、渠道都已具备雏形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4F4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1300+ 小时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志愿服务累计时长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荣获多项志愿服务奖项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96596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16712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273379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74320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站点累计服务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全市未成年人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96596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4F4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216712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1 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74320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已落地的智慧文创项目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证明可交付能力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4544" y="196596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216712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1 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74320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具身智能 VLA 知识库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具身智能主线的知识底座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26060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50207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校地合作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70832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山西工学院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× 朔州市社会工作协会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共建社会工作实践教育基地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1568" y="3749039"/>
            <a:ext cx="26060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3950207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科研竞赛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4370832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智能机器人团队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嵌入式 · 机器视觉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智能设备 · 机器人创意设计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3749039"/>
            <a:ext cx="26060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3950207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产业平台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4370832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陶瓷产业“数智化”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技术创新中心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入驻“晋创谷·朔州”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24544" y="3749039"/>
            <a:ext cx="26060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3144" y="3950207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品牌渠道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4370832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创享艺苑公众号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大学生创业者联盟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返乡大学生志愿者网络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注：科研平台与项目成果归属学校及指导团队，创享艺苑以合作方、服务方身份参与。</a:t>
            </a:r>
          </a:p>
        </p:txBody>
      </p:sp>
      <p:pic>
        <p:nvPicPr>
          <p:cNvPr id="34" name="Picture 33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为什么是现在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智能正从“会说话”走向“会做事”，应用层服务严重缺位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3492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9456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194560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数字世界：AI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理解目标、拆解任务、调用工具、交付结果。</a:t>
            </a:r>
            <a:b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</a:b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工具越来越多，但能为社工站、校史馆、课题组定制落地的人很少。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65960"/>
            <a:ext cx="53492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219456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194560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物理世界：具身智能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743200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VLA 让机器人看懂画面、听懂指令、做出动作。</a:t>
            </a:r>
            <a:b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</a:b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硬件和模型很热，教育、科普、场景方案的供给很冷。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大厂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做通用平台，不为小机构定制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411480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168" y="4251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外包公司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46177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按人天报价，不熟 Agent 新范式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411480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4251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文创公司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46177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懂内容，不懂具身智能与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544" y="4114800"/>
            <a:ext cx="2606040" cy="1234440"/>
          </a:xfrm>
          <a:prstGeom prst="roundRect">
            <a:avLst>
              <a:gd name="adj" fmla="val 1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3144" y="4251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场景方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46177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有需求、有预算，不知从哪下手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32120"/>
            <a:ext cx="10908792" cy="5029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532120"/>
            <a:ext cx="1090879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缺口：既懂前沿技术、又懂场景落地的应用层服务者 ，这正是创享艺苑的位置</a:t>
            </a:r>
          </a:p>
        </p:txBody>
      </p:sp>
      <p:pic>
        <p:nvPicPr>
          <p:cNvPr id="31" name="Picture 30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两条主线，多个场景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具身智能与 AI Agent 是成长主轴；科技、文创、志愿等是能力落地的服务场景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349240" cy="23317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主线一 · 具身智能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3E4FF"/>
                </a:solidFill>
                <a:latin typeface="微软雅黑"/>
                <a:ea typeface="微软雅黑"/>
                <a:cs typeface="微软雅黑"/>
              </a:rPr>
              <a:t>做具身智能的翻译者、连接者、应用设计者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VLA 知识库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1089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科普内容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1089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分层课程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661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机械臂演示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5661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机器人讲解员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5661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产业调研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965960"/>
            <a:ext cx="5349240" cy="23317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10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14884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主线二 · AI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6060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3E4FF"/>
                </a:solidFill>
                <a:latin typeface="微软雅黑"/>
                <a:ea typeface="微软雅黑"/>
                <a:cs typeface="微软雅黑"/>
              </a:rPr>
              <a:t>做场景化智能体与 Skill 的设计者和供给者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3952" y="31089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场景 Agent 定制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31089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Skill 工具包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65792" y="31089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机构 AI 培训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3952" y="35661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研究助手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35661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知识库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65792" y="3566160"/>
            <a:ext cx="15361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工作流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988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服务场景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892040"/>
            <a:ext cx="170992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59" y="5074920"/>
            <a:ext cx="128016" cy="128016"/>
          </a:xfrm>
          <a:prstGeom prst="ellipse">
            <a:avLst/>
          </a:prstGeom>
          <a:solidFill>
            <a:srgbClr val="4D5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7" y="500176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科技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539496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课题组 · 科创团队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4892040"/>
            <a:ext cx="170992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651760" y="5074920"/>
            <a:ext cx="128016" cy="128016"/>
          </a:xfrm>
          <a:prstGeom prst="ellipse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2928" y="500176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文创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39496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场馆 · 文旅 · 展厅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892040"/>
            <a:ext cx="170992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480560" y="5074920"/>
            <a:ext cx="128016" cy="128016"/>
          </a:xfrm>
          <a:prstGeom prst="ellipse">
            <a:avLst/>
          </a:prstGeom>
          <a:solidFill>
            <a:srgbClr val="4D5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1728" y="500176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志愿公益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39496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社工站 · 团委 · NGO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4892040"/>
            <a:ext cx="170992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09360" y="5074920"/>
            <a:ext cx="128016" cy="128016"/>
          </a:xfrm>
          <a:prstGeom prst="ellipse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500176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教育研学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39496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学校 · 研学 · 科技馆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4892040"/>
            <a:ext cx="170992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38159" y="5074920"/>
            <a:ext cx="128016" cy="128016"/>
          </a:xfrm>
          <a:prstGeom prst="ellipse">
            <a:avLst/>
          </a:prstGeom>
          <a:solidFill>
            <a:srgbClr val="4D5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9327" y="500176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产业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59" y="539496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陶瓷 · 创新中心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0" y="4892040"/>
            <a:ext cx="170992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66959" y="5074920"/>
            <a:ext cx="128016" cy="128016"/>
          </a:xfrm>
          <a:prstGeom prst="ellipse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68128" y="500176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基层青年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539496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街道 · 返乡青年</a:t>
            </a:r>
          </a:p>
        </p:txBody>
      </p:sp>
      <p:pic>
        <p:nvPicPr>
          <p:cNvPr id="52" name="Picture 51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主线一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具身智能：不造机器人，做“懂具身智能的人”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以 VLA 知识库为底座，一份知识加工成六种产品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520440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9456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194560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科普内容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30632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“机器人是怎么学会动手的”系列，建立专业形象、获取线索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965960"/>
            <a:ext cx="3520440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62856" y="219456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2194560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课程与研学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743200"/>
            <a:ext cx="30632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儿童启蒙 / 中学科创 / 大学通识 / 教师培训 / 研学路线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965960"/>
            <a:ext cx="3520440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1" y="219456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2194560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科创叙事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743200"/>
            <a:ext cx="30632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为机器人与智能制造团队做路演、展示、竞赛材料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3520440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977639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3977639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演示方案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26279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开源机械臂 + 摄像头，语言指令抓取、视觉分拣演示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4256" y="3749039"/>
            <a:ext cx="3520440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62856" y="3977639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3977639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机器人讲解员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4526279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场馆知识库 Agent + 语音交互 + 现成服务机器人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3749039"/>
            <a:ext cx="3520440" cy="1645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57031" y="3977639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3977639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产业调研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4526279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陶瓷质检、分拣等环节的视觉与机器人可行性分析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577840"/>
            <a:ext cx="10908792" cy="502920"/>
          </a:xfrm>
          <a:prstGeom prst="roundRect">
            <a:avLst>
              <a:gd name="adj" fmla="val 5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577840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边界：不自研硬件、不训练基础模型 · 复杂硬件交给合作方 · 引用资料标注来源，只售卖原创整理与解读</a:t>
            </a:r>
          </a:p>
        </p:txBody>
      </p:sp>
      <p:pic>
        <p:nvPicPr>
          <p:cNvPr id="35" name="Picture 34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主线二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AI Agent：自研 Skill 三层架构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主控调度 Agent + 可插拔 Skill 库，核心层是壁垒，领域层是产品，工具层是效率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737360" cy="868680"/>
          </a:xfrm>
          <a:prstGeom prst="roundRect">
            <a:avLst>
              <a:gd name="adj" fmla="val 15000"/>
            </a:avLst>
          </a:prstGeom>
          <a:solidFill>
            <a:srgbClr val="4D5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核心能力层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0EEFF"/>
                </a:solidFill>
                <a:latin typeface="微软雅黑"/>
                <a:ea typeface="微软雅黑"/>
                <a:cs typeface="微软雅黑"/>
              </a:rPr>
              <a:t>自有 · 不开源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965960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965960"/>
            <a:ext cx="5212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立意提炼 · 叙事结构 · 价值校验 · 风格校准 · 技术翻译（儿童 / 公众 / 投资人 / 评审）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90088"/>
            <a:ext cx="1737360" cy="86868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90088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领域能力层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0EEFF"/>
                </a:solidFill>
                <a:latin typeface="微软雅黑"/>
                <a:ea typeface="微软雅黑"/>
                <a:cs typeface="微软雅黑"/>
              </a:rPr>
              <a:t>可打包售卖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2990088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990088"/>
            <a:ext cx="5212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具身智能科普与教案 · 文博讲解词 · 公益申报与结项 · 科创路演 · 新媒体运营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14216"/>
            <a:ext cx="1737360" cy="86868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14216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工具能力层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0EEFF"/>
                </a:solidFill>
                <a:latin typeface="微软雅黑"/>
                <a:ea typeface="微软雅黑"/>
                <a:cs typeface="微软雅黑"/>
              </a:rPr>
              <a:t>随社区新范式迭代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4014216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014216"/>
            <a:ext cx="5212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RAG 知识库与记忆 · 多模态解析 · Word/PPT 生成 · MCP 工具接入 · 多 Agent 协作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965960"/>
            <a:ext cx="3227832" cy="2916936"/>
          </a:xfrm>
          <a:prstGeom prst="roundRect">
            <a:avLst>
              <a:gd name="adj" fmla="val 6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1488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交付即训练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606040"/>
            <a:ext cx="2834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需求对接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↓ Skill 链路出初稿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↓ 人工把控立意与质量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↓ 交付并记录修改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↓ 反向优化 Skill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下一单更快、更稳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83480"/>
            <a:ext cx="10908792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84648"/>
            <a:ext cx="10451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与具身智能汇合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451592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Agent 的任务规划与工具调用，就是机器人的“大脑”。今天在数字世界积累的编排能力，未来直接迁移到具身 Agent 的任务编排。</a:t>
            </a:r>
          </a:p>
        </p:txBody>
      </p:sp>
      <p:pic>
        <p:nvPicPr>
          <p:cNvPr id="27" name="Picture 26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可以交付的场景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每一个都对应机构每天在重复做的工作，第一次定制，第二次复用，第三次变成工具包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94560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1945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具身智能研究助手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4320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研究生 · 课题组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7296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VLA 论文检索、技术对比、综述初稿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9659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30168" y="2194560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1945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场馆讲解员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274320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校史馆 · 文化馆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17296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基于馆藏资料回答观众、生成个性化讲解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9659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91656" y="2194560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1945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公益申报助手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91656" y="2743200"/>
            <a:ext cx="2450592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社工站 · NGO · 团委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317296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申报书、中期报告、结项报告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4544" y="19659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53144" y="2194560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37776" y="21945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志愿服务管理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274320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志愿组织 · 社区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317296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招募、排班、时长核算、纪实报道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77639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8680" y="4206240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3312" y="420624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儿童服务记录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754879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社区儿童站点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1846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服务记录、成长档案、月度报告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01568" y="3977639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30168" y="4206240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0" y="420624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科创路演助手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30168" y="4754879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科创与竞赛团队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0168" y="51846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路演稿、答辩问答预演、计划书结构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3056" y="3977639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91656" y="4206240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6288" y="420624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产业知识库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91656" y="4754879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企业 · 创新中心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656" y="51846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工艺资料、技术标准、产品手册问答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24544" y="3977639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53144" y="4206240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37776" y="420624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政策解读助手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53144" y="4754879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街道 · 创业者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53144" y="51846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创业扶持、人才与项目申报政策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合规：儿童与个人信息脱敏、权限控制、可本地部署；优先使用已备案的国内模型；输出需人工审核。</a:t>
            </a:r>
          </a:p>
        </p:txBody>
      </p:sp>
      <p:pic>
        <p:nvPicPr>
          <p:cNvPr id="50" name="Picture 49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渠道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六类场景，各有入口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核心能力只有一套，场景越多复用率越高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0908792" cy="411480"/>
          </a:xfrm>
          <a:prstGeom prst="roundRect">
            <a:avLst>
              <a:gd name="adj" fmla="val 3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92024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第一触达入口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20240"/>
            <a:ext cx="3657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主推服务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23160"/>
            <a:ext cx="10908792" cy="53035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624328"/>
            <a:ext cx="128016" cy="128016"/>
          </a:xfrm>
          <a:prstGeom prst="ellipse">
            <a:avLst/>
          </a:prstGeom>
          <a:solidFill>
            <a:srgbClr val="4D5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42316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科技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423160"/>
            <a:ext cx="4389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智能机器人团队、科研团队、晋创谷·朔州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423160"/>
            <a:ext cx="4480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科创叙事 · 研究助手 · 演示方案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26664"/>
            <a:ext cx="10908792" cy="53035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227832"/>
            <a:ext cx="128016" cy="128016"/>
          </a:xfrm>
          <a:prstGeom prst="ellipse">
            <a:avLst/>
          </a:prstGeom>
          <a:solidFill>
            <a:srgbClr val="4D5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026664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文创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026664"/>
            <a:ext cx="4389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已落地项目转介绍、校史馆、文旅部门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26664"/>
            <a:ext cx="4480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数字叙事 · 讲解 Agent · 机器人讲解员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30168"/>
            <a:ext cx="10908792" cy="53035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3831335"/>
            <a:ext cx="128016" cy="128016"/>
          </a:xfrm>
          <a:prstGeom prst="ellipse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630168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志愿公益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630168"/>
            <a:ext cx="4389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自有站点、社会工作实践教育基地、团委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630168"/>
            <a:ext cx="4480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申报助手 · 志愿管理 · 儿童科技课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233672"/>
            <a:ext cx="10908792" cy="53035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" y="4434840"/>
            <a:ext cx="128016" cy="128016"/>
          </a:xfrm>
          <a:prstGeom prst="ellipse">
            <a:avLst/>
          </a:prstGeom>
          <a:solidFill>
            <a:srgbClr val="4D5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233672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教育研学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233672"/>
            <a:ext cx="4389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社区试课、研学机构、科技馆、高校社团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233672"/>
            <a:ext cx="4480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分层课程 · 研学路线 · AI 助教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37176"/>
            <a:ext cx="10908792" cy="53035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" y="5038344"/>
            <a:ext cx="128016" cy="128016"/>
          </a:xfrm>
          <a:prstGeom prst="ellipse">
            <a:avLst/>
          </a:prstGeom>
          <a:solidFill>
            <a:srgbClr val="4D5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837176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产业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837176"/>
            <a:ext cx="4389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陶瓷产业技术创新中心、园区对接会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837176"/>
            <a:ext cx="4480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知识库 Agent · 场景调研 · 数字展厅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440680"/>
            <a:ext cx="10908792" cy="53035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8680" y="5641848"/>
            <a:ext cx="128016" cy="128016"/>
          </a:xfrm>
          <a:prstGeom prst="ellipse">
            <a:avLst/>
          </a:prstGeom>
          <a:solidFill>
            <a:srgbClr val="4D5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44068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基层青年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5440680"/>
            <a:ext cx="4389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大学生创业者联盟、返乡青年网络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440680"/>
            <a:ext cx="4480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政策助手 · 创业服务 · 实践岗位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公益边界：不向儿童与家庭收费，收入来自政府购买服务、公益创投、工具与培训服务费，公益与商业账目分开。</a:t>
            </a:r>
          </a:p>
        </p:txBody>
      </p:sp>
      <p:pic>
        <p:nvPicPr>
          <p:cNvPr id="44" name="Picture 43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收入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三层收入结构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服务赚钱，产品放大，资产增值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520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520440" cy="86868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6FF"/>
                </a:solidFill>
                <a:latin typeface="微软雅黑"/>
                <a:ea typeface="微软雅黑"/>
                <a:cs typeface="微软雅黑"/>
              </a:rPr>
              <a:t>第一层</a:t>
            </a:r>
          </a:p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Agent 定制 · 科创叙事 · 场馆数字叙事 · 演示方案 · 产业调研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0624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现金流 + 案例 + 客户反馈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965960"/>
            <a:ext cx="3520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4256" y="1965960"/>
            <a:ext cx="3520440" cy="86868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01168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6FF"/>
                </a:solidFill>
                <a:latin typeface="微软雅黑"/>
                <a:ea typeface="微软雅黑"/>
                <a:cs typeface="微软雅黑"/>
              </a:rPr>
              <a:t>第二层</a:t>
            </a:r>
          </a:p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01752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标准服务包 · Skill 工具包 · 分层课程与工作坊 · 科普专栏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8576" y="420624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一次开发，多次销售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965960"/>
            <a:ext cx="3520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1" y="1965960"/>
            <a:ext cx="3520440" cy="86868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8B5CF6"/>
              </a:gs>
              <a:gs pos="100000">
                <a:srgbClr val="FF8A6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01168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5E6FF"/>
                </a:solidFill>
                <a:latin typeface="微软雅黑"/>
                <a:ea typeface="微软雅黑"/>
                <a:cs typeface="微软雅黑"/>
              </a:rPr>
              <a:t>第三层</a:t>
            </a:r>
          </a:p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资产授权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01752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年度维护 · 年度顾问 · 方法论授权 · 教师/社工培训认证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420624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毛利最高，依赖品牌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补充资金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49240"/>
            <a:ext cx="2606040" cy="640080"/>
          </a:xfrm>
          <a:prstGeom prst="roundRect">
            <a:avLst>
              <a:gd name="adj" fmla="val 3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创新创业竞赛奖金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5349240"/>
            <a:ext cx="2606040" cy="640080"/>
          </a:xfrm>
          <a:prstGeom prst="roundRect">
            <a:avLst>
              <a:gd name="adj" fmla="val 3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534924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青年与返乡创业扶持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5349240"/>
            <a:ext cx="2606040" cy="640080"/>
          </a:xfrm>
          <a:prstGeom prst="roundRect">
            <a:avLst>
              <a:gd name="adj" fmla="val 3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3056" y="534924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公益创投与政府购买服务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4544" y="5349240"/>
            <a:ext cx="2606040" cy="640080"/>
          </a:xfrm>
          <a:prstGeom prst="roundRect">
            <a:avLst>
              <a:gd name="adj" fmla="val 3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24544" y="534924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科研横向项目合作</a:t>
            </a:r>
          </a:p>
        </p:txBody>
      </p:sp>
      <p:pic>
        <p:nvPicPr>
          <p:cNvPr id="33" name="Picture 32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定价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标准服务包与参考价格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起步期参考区间，按地区、预算与复杂度调整；早期少量项目可降价换案例授权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52044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具身智能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科普讲座（含演示）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5176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1000–5000 元/场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00400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55264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儿童启蒙活动课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255264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800–2000 元/场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03904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中学科创系列课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858768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1–3 万元/期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407408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6227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教师培训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62272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0.5–2 万元/期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10912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65776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产业场景调研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06577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1–5 万元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4256" y="1965960"/>
            <a:ext cx="352044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62856" y="214884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AI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26517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轻量工作流 + 培训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3056" y="265176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3000–1 万元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62856" y="3200400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6" y="3255264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知识库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3056" y="3255264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1–5 万元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62856" y="3803904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385876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场馆数字讲解员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3858768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2–10 万元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62856" y="4407408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446227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机构 AI 办公培训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4462272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2000–8000 元/场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62856" y="5010912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62856" y="5065776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年度维护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3056" y="506577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项目额 10%–20%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8431" y="1965960"/>
            <a:ext cx="352044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57031" y="21488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场景与产品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1" y="26517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科创路演叙事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7232" y="265176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3000–1.5 万元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57031" y="3200400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57031" y="3255264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场馆数字叙事策划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3255264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0.5–2 万元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7031" y="3803904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7031" y="385876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公益年度内容包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57232" y="3858768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1–3 万元/年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57031" y="4407408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7031" y="446227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Skill 工具包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57232" y="4462272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99–999 元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57031" y="5010912"/>
            <a:ext cx="3063240" cy="9144"/>
          </a:xfrm>
          <a:prstGeom prst="roundRect">
            <a:avLst>
              <a:gd name="adj" fmla="val 0"/>
            </a:avLst>
          </a:prstGeom>
          <a:solidFill>
            <a:srgbClr val="E3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57031" y="5065776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机构版工具包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57232" y="506577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2000–1 万元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每个服务包写清：交付物清单 · 修改上限两轮 · 成果归甲方，方法论与 Skill 归创享艺苑 · 预付款不低于三成</a:t>
            </a:r>
          </a:p>
        </p:txBody>
      </p:sp>
      <p:pic>
        <p:nvPicPr>
          <p:cNvPr id="58" name="Picture 57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跑通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商业闭环怎么转起来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一人公司没有固定人力和场地成本，利润取决于复用率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874520"/>
            <a:ext cx="1463040" cy="731520"/>
          </a:xfrm>
          <a:prstGeom prst="roundRect">
            <a:avLst>
              <a:gd name="adj" fmla="val 25000"/>
            </a:avLst>
          </a:prstGeom>
          <a:solidFill>
            <a:srgbClr val="F4F4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7452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前沿 AI 社区</a:t>
            </a:r>
            <a:b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</a:b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吸收新范式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00413" y="2674620"/>
            <a:ext cx="146304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0413" y="267462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升级知识库</a:t>
            </a:r>
            <a:b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</a:b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与 Skill 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0413" y="4274820"/>
            <a:ext cx="1463040" cy="731520"/>
          </a:xfrm>
          <a:prstGeom prst="roundRect">
            <a:avLst>
              <a:gd name="adj" fmla="val 25000"/>
            </a:avLst>
          </a:prstGeom>
          <a:solidFill>
            <a:srgbClr val="F4F4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413" y="427482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场景项目</a:t>
            </a:r>
            <a:b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</a:b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5074920"/>
            <a:ext cx="146304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507492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案例、口碑</a:t>
            </a:r>
            <a:b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</a:b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与收入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28786" y="4274820"/>
            <a:ext cx="1463040" cy="731520"/>
          </a:xfrm>
          <a:prstGeom prst="roundRect">
            <a:avLst>
              <a:gd name="adj" fmla="val 25000"/>
            </a:avLst>
          </a:prstGeom>
          <a:solidFill>
            <a:srgbClr val="F4F4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8786" y="427482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反馈回流</a:t>
            </a:r>
            <a:b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</a:b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优化 Skill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28786" y="2674620"/>
            <a:ext cx="146304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8786" y="267462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产品化</a:t>
            </a:r>
            <a:b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</a:br>
            <a:r>
              <a:rPr sz="10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覆盖更多客户</a:t>
            </a:r>
          </a:p>
        </p:txBody>
      </p:sp>
      <p:sp>
        <p:nvSpPr>
          <p:cNvPr id="21" name="Oval 20"/>
          <p:cNvSpPr/>
          <p:nvPr/>
        </p:nvSpPr>
        <p:spPr>
          <a:xfrm>
            <a:off x="2560320" y="3429000"/>
            <a:ext cx="1371600" cy="822960"/>
          </a:xfrm>
          <a:prstGeom prst="ellipse">
            <a:avLst/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3429000"/>
            <a:ext cx="1371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创始人</a:t>
            </a: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认知 · 立意 · 决策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965960"/>
            <a:ext cx="5148072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同一类项目的成本曲线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06040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第 1 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2660904"/>
            <a:ext cx="1920240" cy="21945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606040"/>
            <a:ext cx="1920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理解业务、调试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044952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第 2 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099816"/>
            <a:ext cx="1051560" cy="21945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3044952"/>
            <a:ext cx="1920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替换资料、微调流程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48386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第 3 单起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538728"/>
            <a:ext cx="411480" cy="21945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3483864"/>
            <a:ext cx="1920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标准工具包 + 定制版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06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经营看四个指标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617720"/>
            <a:ext cx="2532888" cy="621792"/>
          </a:xfrm>
          <a:prstGeom prst="roundRect">
            <a:avLst>
              <a:gd name="adj" fmla="val 2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672583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复用率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9469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新项目复用已有 Skill 的比例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15984" y="4617720"/>
            <a:ext cx="2532888" cy="621792"/>
          </a:xfrm>
          <a:prstGeom prst="roundRect">
            <a:avLst>
              <a:gd name="adj" fmla="val 2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8863" y="4672583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产品化占比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8863" y="49469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非定制收入占总收入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330952"/>
            <a:ext cx="2532888" cy="621792"/>
          </a:xfrm>
          <a:prstGeom prst="roundRect">
            <a:avLst>
              <a:gd name="adj" fmla="val 2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3858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续约率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66013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年度维护与二次合作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15984" y="5330952"/>
            <a:ext cx="2532888" cy="621792"/>
          </a:xfrm>
          <a:prstGeom prst="roundRect">
            <a:avLst>
              <a:gd name="adj" fmla="val 20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98863" y="53858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转介绍率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98863" y="566013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老客户带来的新客户</a:t>
            </a:r>
          </a:p>
        </p:txBody>
      </p:sp>
      <p:pic>
        <p:nvPicPr>
          <p:cNvPr id="47" name="Picture 46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我可以做吗：可以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除商务经验外，核心能力均已具备或有明确补齐路径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676656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2011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Agent 与 Skill 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20240"/>
            <a:ext cx="3566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计算机专业，能独立编程、调用 API、搭工作流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0116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可行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676656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68880"/>
            <a:ext cx="2011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知识库与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3566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已独立搭建具身智能 VLA 知识库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560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可行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17520"/>
            <a:ext cx="676656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17520"/>
            <a:ext cx="2011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项目落地交付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017520"/>
            <a:ext cx="3566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智慧文创项目已落地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1089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10896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已验证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66160"/>
            <a:ext cx="676656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566160"/>
            <a:ext cx="2011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组织与服务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566160"/>
            <a:ext cx="3566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社区儿童服务，志愿时长 1300+ 小时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6576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65760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已验证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14800"/>
            <a:ext cx="676656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114800"/>
            <a:ext cx="2011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内容与叙事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114800"/>
            <a:ext cx="3566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长期运营创享艺苑公众号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42062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20624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已验证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663440"/>
            <a:ext cx="676656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663440"/>
            <a:ext cx="2011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开源机械臂演示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4663440"/>
            <a:ext cx="3566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有嵌入式与机器人竞赛实践环境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475487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754879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可行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212079"/>
            <a:ext cx="6766560" cy="475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212079"/>
            <a:ext cx="2011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商务与合同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212079"/>
            <a:ext cx="3566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经验较少，用标准合同与小单练手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530351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303519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8A65"/>
                </a:solidFill>
                <a:latin typeface="微软雅黑"/>
                <a:ea typeface="微软雅黑"/>
                <a:cs typeface="微软雅黑"/>
              </a:rPr>
              <a:t>待补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5240" y="1920240"/>
            <a:ext cx="391363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2121408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关于学历与读研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2560320"/>
            <a:ext cx="34564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应用层市场看交付，不看学历。创业产出的案例、软著、竞赛成果、科普作品，正是日后读研申请的材料；读研后课题组又是天然客户。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3931920"/>
            <a:ext cx="3913632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4133087"/>
            <a:ext cx="3456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合规准备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4572000"/>
            <a:ext cx="345643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注册个体户或一人有限公司 · 确认公众号主体归属 · 查询并申请 35/41/42 类商标 · Skill 申请软著</a:t>
            </a:r>
          </a:p>
        </p:txBody>
      </p:sp>
      <p:pic>
        <p:nvPicPr>
          <p:cNvPr id="50" name="Picture 49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凭什么是创享艺苑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大部分“竞争者”可以变成合作者，正面竞争只在通用外包红海，而这正是我们回避的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6035040" cy="6949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084832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84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920240"/>
            <a:ext cx="17373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前沿认知差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920240"/>
            <a:ext cx="35204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持续吸收具身智能与 Agent 新范式，快速转化为场景方案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06624"/>
            <a:ext cx="6035040" cy="6949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871216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712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706624"/>
            <a:ext cx="17373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知识库 + Skill 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706624"/>
            <a:ext cx="35204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随项目不断加厚，几十个项目打磨出的体系难以复制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93008"/>
            <a:ext cx="6035040" cy="6949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657600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93008"/>
            <a:ext cx="17373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真实场景与信任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493008"/>
            <a:ext cx="35204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社区站点、实践教育基地、科研合作，靠时间积累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79392"/>
            <a:ext cx="6035040" cy="6949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443983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43983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79392"/>
            <a:ext cx="17373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技术 × 人文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279392"/>
            <a:ext cx="35204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能读论文写代码，也能做叙事懂公益和教育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065776"/>
            <a:ext cx="6035040" cy="6949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5230368"/>
            <a:ext cx="365760" cy="36576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2303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65776"/>
            <a:ext cx="17373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区域深耕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065776"/>
            <a:ext cx="35204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地方城市专业供给少，本地关系与返乡青年网络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1920240"/>
            <a:ext cx="4645152" cy="3840480"/>
          </a:xfrm>
          <a:prstGeom prst="roundRect">
            <a:avLst>
              <a:gd name="adj" fmla="val 5000"/>
            </a:avLst>
          </a:prstGeom>
          <a:solidFill>
            <a:srgbClr val="F4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21031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需要守住的风险</a:t>
            </a:r>
          </a:p>
        </p:txBody>
      </p:sp>
      <p:sp>
        <p:nvSpPr>
          <p:cNvPr id="36" name="Oval 35"/>
          <p:cNvSpPr/>
          <p:nvPr/>
        </p:nvSpPr>
        <p:spPr>
          <a:xfrm>
            <a:off x="7205472" y="2743200"/>
            <a:ext cx="109728" cy="109728"/>
          </a:xfrm>
          <a:prstGeom prst="ellipse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260604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精力透支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60604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立项评估表筛单，固定研究时间</a:t>
            </a:r>
          </a:p>
        </p:txBody>
      </p:sp>
      <p:sp>
        <p:nvSpPr>
          <p:cNvPr id="39" name="Oval 38"/>
          <p:cNvSpPr/>
          <p:nvPr/>
        </p:nvSpPr>
        <p:spPr>
          <a:xfrm>
            <a:off x="7205472" y="3255264"/>
            <a:ext cx="109728" cy="109728"/>
          </a:xfrm>
          <a:prstGeom prst="ellipse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3118104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方向分散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118104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对外只讲具身智能 + AI Agent</a:t>
            </a:r>
          </a:p>
        </p:txBody>
      </p:sp>
      <p:sp>
        <p:nvSpPr>
          <p:cNvPr id="42" name="Oval 41"/>
          <p:cNvSpPr/>
          <p:nvPr/>
        </p:nvSpPr>
        <p:spPr>
          <a:xfrm>
            <a:off x="7205472" y="3767328"/>
            <a:ext cx="109728" cy="109728"/>
          </a:xfrm>
          <a:prstGeom prst="ellipse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3630168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技术迭代快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630168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工具层可替换，核心层沉淀方法论</a:t>
            </a:r>
          </a:p>
        </p:txBody>
      </p:sp>
      <p:sp>
        <p:nvSpPr>
          <p:cNvPr id="45" name="Oval 44"/>
          <p:cNvSpPr/>
          <p:nvPr/>
        </p:nvSpPr>
        <p:spPr>
          <a:xfrm>
            <a:off x="7205472" y="4279392"/>
            <a:ext cx="109728" cy="109728"/>
          </a:xfrm>
          <a:prstGeom prst="ellipse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142232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回款拖延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142232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合同写明付款节点，预付三成</a:t>
            </a:r>
          </a:p>
        </p:txBody>
      </p:sp>
      <p:sp>
        <p:nvSpPr>
          <p:cNvPr id="48" name="Oval 47"/>
          <p:cNvSpPr/>
          <p:nvPr/>
        </p:nvSpPr>
        <p:spPr>
          <a:xfrm>
            <a:off x="7205472" y="4791456"/>
            <a:ext cx="109728" cy="109728"/>
          </a:xfrm>
          <a:prstGeom prst="ellipse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4654296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交付超预期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654296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明确能力边界，硬件交合作方</a:t>
            </a:r>
          </a:p>
        </p:txBody>
      </p:sp>
      <p:sp>
        <p:nvSpPr>
          <p:cNvPr id="51" name="Oval 50"/>
          <p:cNvSpPr/>
          <p:nvPr/>
        </p:nvSpPr>
        <p:spPr>
          <a:xfrm>
            <a:off x="7205472" y="5303520"/>
            <a:ext cx="109728" cy="109728"/>
          </a:xfrm>
          <a:prstGeom prst="ellipse">
            <a:avLst/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516636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数据隐私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166360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脱敏、权限、本地部署、保密条款</a:t>
            </a:r>
          </a:p>
        </p:txBody>
      </p:sp>
      <p:pic>
        <p:nvPicPr>
          <p:cNvPr id="54" name="Picture 53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d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1148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成长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成长主轴：具身智能 ×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判断新业务是否值得做，只看它能否加厚这两条主线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33679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367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具身智能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965960"/>
            <a:ext cx="173736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96596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知识服务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1965960"/>
            <a:ext cx="15544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95927" y="1965960"/>
            <a:ext cx="173736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7" y="196596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演示与教学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1965960"/>
            <a:ext cx="15544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88736" y="1965960"/>
            <a:ext cx="173736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6" y="196596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场景融合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1965960"/>
            <a:ext cx="15544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81543" y="1965960"/>
            <a:ext cx="173736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81543" y="196596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应用方案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8903" y="1965960"/>
            <a:ext cx="15544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74351" y="1965960"/>
            <a:ext cx="1737360" cy="685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0"/>
          </a:gra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4351" y="196596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数据与任务编排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1089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E6E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AI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2926080"/>
            <a:ext cx="173736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292608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工作流与 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79" y="2926080"/>
            <a:ext cx="15544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95927" y="2926080"/>
            <a:ext cx="173736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95927" y="292608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场景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3288" y="2926080"/>
            <a:ext cx="15544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88736" y="2926080"/>
            <a:ext cx="173736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88736" y="292608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工具包产品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6096" y="2926080"/>
            <a:ext cx="15544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81543" y="2926080"/>
            <a:ext cx="173736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81543" y="292608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应用平台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18903" y="2926080"/>
            <a:ext cx="15544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4D53E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74351" y="2926080"/>
            <a:ext cx="1737360" cy="6858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0"/>
          </a:gra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1" y="292608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具身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97763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组织演进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389120"/>
            <a:ext cx="26060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8680" y="461772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19" y="461772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一人公司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166359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独立跑通闭环，沉淀 Skill、SOP、案例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4389120"/>
            <a:ext cx="26060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30168" y="461772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8807" y="461772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+ 协作网络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30168" y="5166359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设计、摄像外包；志愿者与返乡大学生做助教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6" y="4389120"/>
            <a:ext cx="26060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91656" y="461772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0296" y="461772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同频小团队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91656" y="5166359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读研同门与信任伙伴，加入已验证的体系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24544" y="4389120"/>
            <a:ext cx="26060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53144" y="4617720"/>
            <a:ext cx="420624" cy="42062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4D53E8"/>
              </a:gs>
              <a:gs pos="100000">
                <a:srgbClr val="8B5CF6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01784" y="461772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1D3A"/>
                </a:solidFill>
                <a:latin typeface="微软雅黑"/>
                <a:ea typeface="微软雅黑"/>
                <a:cs typeface="微软雅黑"/>
              </a:rPr>
              <a:t>创新服务共同体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53144" y="5166359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E85"/>
                </a:solidFill>
                <a:latin typeface="微软雅黑"/>
                <a:ea typeface="微软雅黑"/>
                <a:cs typeface="微软雅黑"/>
              </a:rPr>
              <a:t>延续“让创意落地有路径”的联盟精神</a:t>
            </a:r>
          </a:p>
        </p:txBody>
      </p:sp>
      <p:pic>
        <p:nvPicPr>
          <p:cNvPr id="56" name="Picture 55" descr="logo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309360"/>
            <a:ext cx="723879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33172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让创意落地有路径，让智能服务于人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D9CFF2"/>
                </a:solidFill>
                <a:latin typeface="微软雅黑"/>
                <a:ea typeface="微软雅黑"/>
                <a:cs typeface="微软雅黑"/>
              </a:rPr>
              <a:t>具身智能 × AI Agent · 服务科技、文创、志愿公益、教育研学与产业场景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33288" y="3931920"/>
            <a:ext cx="73152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8A65"/>
              </a:gs>
              <a:gs pos="100000">
                <a:srgbClr val="8B5CF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6692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创享艺苑</a:t>
            </a:r>
          </a:p>
        </p:txBody>
      </p:sp>
      <p:pic>
        <p:nvPicPr>
          <p:cNvPr id="7" name="Picture 6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50" y="4800600"/>
            <a:ext cx="1809699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